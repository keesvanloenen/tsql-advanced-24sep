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07" r:id="rId5"/>
    <p:sldId id="348" r:id="rId6"/>
    <p:sldId id="327" r:id="rId7"/>
    <p:sldId id="330" r:id="rId8"/>
    <p:sldId id="329" r:id="rId9"/>
    <p:sldId id="345" r:id="rId10"/>
    <p:sldId id="347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4F2"/>
    <a:srgbClr val="007FC3"/>
    <a:srgbClr val="A0BBE3"/>
    <a:srgbClr val="FFFFFF"/>
    <a:srgbClr val="133561"/>
    <a:srgbClr val="DDDDDD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15" autoAdjust="0"/>
    <p:restoredTop sz="64573" autoAdjust="0"/>
  </p:normalViewPr>
  <p:slideViewPr>
    <p:cSldViewPr snapToGrid="0" showGuides="1">
      <p:cViewPr varScale="1">
        <p:scale>
          <a:sx n="101" d="100"/>
          <a:sy n="101" d="100"/>
        </p:scale>
        <p:origin x="236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1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89594637-A3CC-4652-9B90-35AB7373D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D557059-6594-4B57-A484-2830965875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2B83F-F844-4C18-98E8-7C33F4B39DE0}" type="datetimeFigureOut">
              <a:rPr lang="nl-NL" smtClean="0"/>
              <a:t>25-9-2026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20DCB52-8F1D-4362-8B41-F61F774D56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73637DC-371B-45AA-8745-1A61A278CD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98C19-4A9E-4352-9074-F1483ACD97C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5091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96D34-C2B8-41FF-AE69-48AE3B3D8E8B}" type="datetimeFigureOut">
              <a:rPr lang="nl-NL" smtClean="0"/>
              <a:t>25-9-2026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0B036-1422-4C36-8158-C30E1C0769EB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229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42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091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7292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30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1367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16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70B036-1422-4C36-8158-C30E1C0769EB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41641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2387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2" name="Afbeelding 21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B13FCDC4-A14A-484F-9DBF-06586F7A83D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700" y="5862216"/>
            <a:ext cx="1558406" cy="4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donkere f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5F5F5F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2800"/>
            <a:ext cx="2664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0800"/>
            <a:ext cx="1558800" cy="4752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4" name="Toelichting 2">
            <a:extLst>
              <a:ext uri="{FF2B5EF4-FFF2-40B4-BE49-F238E27FC236}">
                <a16:creationId xmlns:a16="http://schemas.microsoft.com/office/drawing/2014/main" id="{A25424A8-6ADE-4C80-B106-497161FBD436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5" name="Toelichting 2">
            <a:extLst>
              <a:ext uri="{FF2B5EF4-FFF2-40B4-BE49-F238E27FC236}">
                <a16:creationId xmlns:a16="http://schemas.microsoft.com/office/drawing/2014/main" id="{BA9CD39E-B253-4330-9459-D93654698BBF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6064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 met lichte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jdelijke aanduiding voor afbeelding 21">
            <a:extLst>
              <a:ext uri="{FF2B5EF4-FFF2-40B4-BE49-F238E27FC236}">
                <a16:creationId xmlns:a16="http://schemas.microsoft.com/office/drawing/2014/main" id="{128520C4-8B76-4C22-9A16-F93551D3C1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66000 h 6858000"/>
              <a:gd name="connsiteX3" fmla="*/ 11400000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66000"/>
                </a:lnTo>
                <a:lnTo>
                  <a:pt x="11400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>
            <a:noAutofit/>
          </a:bodyPr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571307B-333B-4591-8BC7-DC50216CB4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600" y="1324800"/>
            <a:ext cx="9648000" cy="1865600"/>
          </a:xfrm>
        </p:spPr>
        <p:txBody>
          <a:bodyPr anchor="t" anchorCtr="0"/>
          <a:lstStyle>
            <a:lvl1pPr algn="l">
              <a:defRPr sz="47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E0477F3-851B-4CC7-8C61-61E6ABC6C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600" y="3712400"/>
            <a:ext cx="9648000" cy="1545400"/>
          </a:xfrm>
        </p:spPr>
        <p:txBody>
          <a:bodyPr/>
          <a:lstStyle>
            <a:lvl1pPr marL="0" indent="0" algn="l">
              <a:lnSpc>
                <a:spcPct val="105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50B04124-1E68-4203-A398-300DE8A9B0B3}"/>
              </a:ext>
            </a:extLst>
          </p:cNvPr>
          <p:cNvGrpSpPr/>
          <p:nvPr userDrawn="1"/>
        </p:nvGrpSpPr>
        <p:grpSpPr>
          <a:xfrm>
            <a:off x="-2172832" y="1897500"/>
            <a:ext cx="2046443" cy="2365970"/>
            <a:chOff x="-2172832" y="1897500"/>
            <a:chExt cx="2046443" cy="2365970"/>
          </a:xfrm>
        </p:grpSpPr>
        <p:sp>
          <p:nvSpPr>
            <p:cNvPr id="16" name="Toelichting 2">
              <a:extLst>
                <a:ext uri="{FF2B5EF4-FFF2-40B4-BE49-F238E27FC236}">
                  <a16:creationId xmlns:a16="http://schemas.microsoft.com/office/drawing/2014/main" id="{EF5FCD81-6E8D-44ED-B3BB-3D7A2722A3CE}"/>
                </a:ext>
              </a:extLst>
            </p:cNvPr>
            <p:cNvSpPr txBox="1"/>
            <p:nvPr userDrawn="1"/>
          </p:nvSpPr>
          <p:spPr>
            <a:xfrm>
              <a:off x="-2172832" y="1897500"/>
              <a:ext cx="2046443" cy="20005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</a:t>
              </a:r>
              <a:r>
                <a:rPr lang="nl-NL" sz="1000" u="sng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op het tekstje onder 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het pictogram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Nieuwe dia</a:t>
              </a:r>
              <a:r>
                <a:rPr lang="nl-NL" sz="100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:</a:t>
              </a: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endPara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Andere indeling voor huidige dia</a:t>
              </a:r>
            </a:p>
            <a:p>
              <a:pPr>
                <a:lnSpc>
                  <a:spcPct val="100000"/>
                </a:lnSpc>
              </a:pP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Klik op de </a:t>
              </a:r>
              <a:r>
                <a:rPr lang="nl-NL" sz="1000" b="1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Start</a:t>
              </a:r>
              <a:r>
                <a:rPr lang="nl-NL" sz="1000" b="0" baseline="0" noProof="1">
                  <a:solidFill>
                    <a:schemeClr val="tx1"/>
                  </a:solidFill>
                  <a:latin typeface="+mn-lt"/>
                  <a:cs typeface="Arial" panose="020B0604020202020204" pitchFamily="34" charset="0"/>
                </a:rPr>
                <a:t>-tab op Indeling:</a:t>
              </a:r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EC14DE48-4F0E-43EC-B736-6BEEB06E6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-1720819" y="2405204"/>
              <a:ext cx="514350" cy="762000"/>
            </a:xfrm>
            <a:prstGeom prst="rect">
              <a:avLst/>
            </a:prstGeom>
          </p:spPr>
        </p:pic>
        <p:sp>
          <p:nvSpPr>
            <p:cNvPr id="18" name="Pijl: links 17">
              <a:extLst>
                <a:ext uri="{FF2B5EF4-FFF2-40B4-BE49-F238E27FC236}">
                  <a16:creationId xmlns:a16="http://schemas.microsoft.com/office/drawing/2014/main" id="{BEFD3151-502C-4722-9080-A1720BC9EAF8}"/>
                </a:ext>
              </a:extLst>
            </p:cNvPr>
            <p:cNvSpPr/>
            <p:nvPr userDrawn="1"/>
          </p:nvSpPr>
          <p:spPr>
            <a:xfrm>
              <a:off x="-1249266" y="2906162"/>
              <a:ext cx="514350" cy="181070"/>
            </a:xfrm>
            <a:prstGeom prst="left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>
                <a:solidFill>
                  <a:schemeClr val="tx1"/>
                </a:solidFill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24130D00-8AA9-4DA1-8F00-36B2187743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730279" y="4015820"/>
              <a:ext cx="962025" cy="247650"/>
            </a:xfrm>
            <a:prstGeom prst="rect">
              <a:avLst/>
            </a:prstGeom>
          </p:spPr>
        </p:pic>
      </p:grp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0CD97FCA-990D-428D-B8B1-866C08E2C5F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7600" y="896400"/>
            <a:ext cx="270000" cy="223200"/>
          </a:xfrm>
          <a:blipFill dpi="0" rotWithShape="1">
            <a:blip r:embed="rId4"/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ACDA0D89-AC29-4AF7-A2B0-B1C1CD4F140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4000" y="5864400"/>
            <a:ext cx="1548000" cy="471600"/>
          </a:xfrm>
          <a:blipFill>
            <a:blip r:embed="rId5"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accent5"/>
                </a:solidFill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20" name="Toelichting 2">
            <a:extLst>
              <a:ext uri="{FF2B5EF4-FFF2-40B4-BE49-F238E27FC236}">
                <a16:creationId xmlns:a16="http://schemas.microsoft.com/office/drawing/2014/main" id="{58888936-6C5E-417F-BEF5-E2EF5FB87309}"/>
              </a:ext>
            </a:extLst>
          </p:cNvPr>
          <p:cNvSpPr txBox="1"/>
          <p:nvPr userDrawn="1"/>
        </p:nvSpPr>
        <p:spPr>
          <a:xfrm>
            <a:off x="12358572" y="3201792"/>
            <a:ext cx="2031009" cy="35548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Foto instellen</a:t>
            </a:r>
          </a:p>
          <a:p>
            <a:pPr>
              <a:lnSpc>
                <a:spcPct val="100000"/>
              </a:lnSpc>
            </a:pPr>
            <a:r>
              <a:rPr lang="nl-NL" sz="105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Het fotokader wordt altijd vanuit het midden van de gekozen foto gevuld. </a:t>
            </a:r>
          </a:p>
          <a:p>
            <a:pPr>
              <a:lnSpc>
                <a:spcPct val="100000"/>
              </a:lnSpc>
            </a:pPr>
            <a:endParaRPr lang="nl-NL" sz="105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je een ander gedeelte van de foto wilt zien, gebruik je de functie ‘bijsnijden’: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 op de dia; het kader wordt vierkant weergegeven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Bijsnijden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Nu kun je de foto bewegen en daarmee het gewenste deel in beeld schuiven. Ook kun je de foto vergroten/verkleinen door met de greepjes in de hoeken te slepen.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naast het kader om de bijsnijden-functie te verlaten.</a:t>
            </a:r>
          </a:p>
        </p:txBody>
      </p:sp>
      <p:sp>
        <p:nvSpPr>
          <p:cNvPr id="21" name="Toelichting 2">
            <a:extLst>
              <a:ext uri="{FF2B5EF4-FFF2-40B4-BE49-F238E27FC236}">
                <a16:creationId xmlns:a16="http://schemas.microsoft.com/office/drawing/2014/main" id="{0F8C9FE2-BA24-4C8F-A357-4D9EF1B0D229}"/>
              </a:ext>
            </a:extLst>
          </p:cNvPr>
          <p:cNvSpPr txBox="1"/>
          <p:nvPr userDrawn="1"/>
        </p:nvSpPr>
        <p:spPr>
          <a:xfrm>
            <a:off x="12358572" y="0"/>
            <a:ext cx="2031009" cy="30700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5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Dia herstellen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Als de elementen niet (meer) op de juiste manier (over elkaar) liggen kun je de dia-indeling herstellen:</a:t>
            </a:r>
          </a:p>
          <a:p>
            <a:pPr marL="200699" indent="-200699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Start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Opnieuw instellen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50" b="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Helaas moet je hierna eventuele ‘bijsnijdingen’ opnieuw instellen.</a:t>
            </a:r>
          </a:p>
          <a:p>
            <a:pPr marL="0" marR="0" lvl="0" indent="0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dit voorkomen door de bijsnijdingen eerst te verwijderen: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Selecteer de foto. </a:t>
            </a:r>
          </a:p>
          <a:p>
            <a:pPr marL="200699" marR="0" lvl="0" indent="-200699" algn="l" defTabSz="10703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tab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Hulpmiddelen voor tekenen / Opmaak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: klik op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Afbeeldingen comprimeren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en selecteer </a:t>
            </a:r>
            <a:r>
              <a:rPr lang="nl-NL" sz="105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Bijgesneden gebieden van afbeeldingen verwijderen</a:t>
            </a:r>
            <a:r>
              <a:rPr lang="nl-NL" sz="1050" b="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422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A4D82EB-A068-41A9-80F3-33E950159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7" name="Toelichting 2">
            <a:extLst>
              <a:ext uri="{FF2B5EF4-FFF2-40B4-BE49-F238E27FC236}">
                <a16:creationId xmlns:a16="http://schemas.microsoft.com/office/drawing/2014/main" id="{C02237BE-ACED-416B-B03B-35F33FCB7DCE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635C0F4-5237-4F1A-B811-55FEE9224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1481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ED5F24-06BD-462B-BA0F-255F2F8111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9AC1BE-8B1E-470A-A65A-4D969FAD10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55B43CF-2B78-4B0E-B67D-E748CB02A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3137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van twee met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390A494-4717-4029-B60D-381CEB1DF1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95999" y="2016000"/>
            <a:ext cx="9864000" cy="59055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nl-NL" dirty="0"/>
              <a:t>[ondertitel]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8713771-FD45-4006-8385-08CF79251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96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Tijdelijke aanduiding voor inhoud 3">
            <a:extLst>
              <a:ext uri="{FF2B5EF4-FFF2-40B4-BE49-F238E27FC236}">
                <a16:creationId xmlns:a16="http://schemas.microsoft.com/office/drawing/2014/main" id="{0FD2E632-CCBA-4A49-B173-C6E074472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8000" y="2613439"/>
            <a:ext cx="4752000" cy="35525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2FAE7D-E99E-42B0-A84F-B037C244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5127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+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96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8000" y="2016000"/>
            <a:ext cx="4752000" cy="4140000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202DE95-ADC6-47B0-AEFA-B8503F519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75674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oelichting 2">
            <a:extLst>
              <a:ext uri="{FF2B5EF4-FFF2-40B4-BE49-F238E27FC236}">
                <a16:creationId xmlns:a16="http://schemas.microsoft.com/office/drawing/2014/main" id="{48F364DB-B536-4EB7-8EBE-116D7A2DD3D0}"/>
              </a:ext>
            </a:extLst>
          </p:cNvPr>
          <p:cNvSpPr txBox="1"/>
          <p:nvPr userDrawn="1"/>
        </p:nvSpPr>
        <p:spPr>
          <a:xfrm>
            <a:off x="-2105892" y="1897500"/>
            <a:ext cx="1979503" cy="35394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l-NL" sz="1000" b="1" baseline="0" noProof="1">
                <a:solidFill>
                  <a:schemeClr val="tx2"/>
                </a:solidFill>
                <a:latin typeface="+mn-lt"/>
                <a:cs typeface="Arial" panose="020B0604020202020204" pitchFamily="34" charset="0"/>
              </a:rPr>
              <a:t>Tekst opmaken</a:t>
            </a:r>
            <a:endParaRPr lang="nl-NL" sz="1000" baseline="0" noProof="1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tekstkaders zijn vijf opmaakstijlen ingesteld: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bullet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streepje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Opsomming pijltje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Platte tekst</a:t>
            </a:r>
          </a:p>
          <a:p>
            <a:pPr marL="228600" indent="-228600">
              <a:lnSpc>
                <a:spcPct val="100000"/>
              </a:lnSpc>
              <a:buAutoNum type="arabicPeriod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Tussenkopje</a:t>
            </a:r>
          </a:p>
          <a:p>
            <a:pPr>
              <a:lnSpc>
                <a:spcPct val="100000"/>
              </a:lnSpc>
            </a:pPr>
            <a:endParaRPr lang="nl-NL" sz="10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kiest een stijl door </a:t>
            </a:r>
            <a:r>
              <a:rPr lang="nl-NL" sz="1000" i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aan het begin van een regel 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 drukken: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volgende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tekststijl.</a:t>
            </a:r>
          </a:p>
          <a:p>
            <a:pPr marL="176213" indent="-176213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Met </a:t>
            </a:r>
            <a:r>
              <a:rPr lang="nl-NL" sz="10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</a:t>
            </a:r>
            <a:r>
              <a:rPr lang="nl-NL" sz="10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kies je de </a:t>
            </a:r>
            <a:r>
              <a:rPr lang="nl-NL" sz="1000" u="sng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vorige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tekststijl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nl-NL" sz="1000" i="0" u="none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Je kunt meerdere ‘sprongen’ tegelijk voor- of achteruit maken als je b.v. van niveau 1 naar niveau 4 wilt gaan. Je drukt dan aan het begin van een regel meerdere keren op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[Tab]</a:t>
            </a:r>
            <a:r>
              <a:rPr lang="nl-NL" sz="1000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of </a:t>
            </a:r>
            <a:r>
              <a:rPr lang="nl-NL" sz="1000" b="1" i="0" u="none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[Shift]+[Tab].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708FCB36-775D-40C0-B0F3-86CA1A9D71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8000" y="2016000"/>
            <a:ext cx="4752000" cy="4140000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8E88A05-67F9-47A7-960E-586CE611C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000" y="2016000"/>
            <a:ext cx="4752000" cy="4140000"/>
          </a:xfrm>
        </p:spPr>
        <p:txBody>
          <a:bodyPr/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38FCF43-34BC-4877-99C4-553FED40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97731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eko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5F53FA-EE09-4A0C-92EE-E4B8A636A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600" y="1324801"/>
            <a:ext cx="6861600" cy="2358200"/>
          </a:xfrm>
        </p:spPr>
        <p:txBody>
          <a:bodyPr anchor="t" anchorCtr="0"/>
          <a:lstStyle>
            <a:lvl1pPr>
              <a:defRPr sz="47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[hoofdstuktitel]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C4959B75-7C22-46B5-B30C-BC3F15F358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77600" y="3894246"/>
            <a:ext cx="6861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dirty="0"/>
              <a:t>[ondertitel of toelichting]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F806D8B-5DD1-4AC8-881B-942EAB79FC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9" name="Afbeelding 8" descr="Afbeelding met tekst, kruiswoordpuzzel&#10;&#10;Beschrijving is gegenereerd met hoge betrouwbaarheid">
            <a:extLst>
              <a:ext uri="{FF2B5EF4-FFF2-40B4-BE49-F238E27FC236}">
                <a16:creationId xmlns:a16="http://schemas.microsoft.com/office/drawing/2014/main" id="{780794D5-73D1-4667-A8F7-1FFB0EDB22F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0" y="891306"/>
            <a:ext cx="266699" cy="22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0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251F923-90BC-40F3-8BDA-DB17BAC4C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81988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ige driehoek 4">
            <a:extLst>
              <a:ext uri="{FF2B5EF4-FFF2-40B4-BE49-F238E27FC236}">
                <a16:creationId xmlns:a16="http://schemas.microsoft.com/office/drawing/2014/main" id="{7B950D76-FDB9-4D4D-8E5F-9E36F651D41E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809513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fsluit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BFDD44-2866-4BB8-BAB3-956F9C108E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25362" y="4334037"/>
            <a:ext cx="2566638" cy="2523963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4C25534-E1F7-408F-971A-A92512CE123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99" y="5257800"/>
            <a:ext cx="3534451" cy="1081088"/>
          </a:xfrm>
          <a:prstGeom prst="rect">
            <a:avLst/>
          </a:prstGeom>
        </p:spPr>
      </p:pic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F27743-4FBD-454F-B003-399F0DD3C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7600" y="1203770"/>
            <a:ext cx="7797800" cy="1694004"/>
          </a:xfrm>
        </p:spPr>
        <p:txBody>
          <a:bodyPr>
            <a:normAutofit/>
          </a:bodyPr>
          <a:lstStyle>
            <a:lvl1pPr marL="0" indent="0">
              <a:lnSpc>
                <a:spcPct val="105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[afsluitgroet]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322CD84B-886E-4595-BFBC-7504B9A0CE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7600" y="3588345"/>
            <a:ext cx="4800600" cy="10810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252000" indent="0">
              <a:buNone/>
              <a:defRPr>
                <a:solidFill>
                  <a:schemeClr val="bg1"/>
                </a:solidFill>
              </a:defRPr>
            </a:lvl2pPr>
            <a:lvl3pPr marL="504000" indent="0"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[contactgegevens]</a:t>
            </a:r>
          </a:p>
        </p:txBody>
      </p:sp>
    </p:spTree>
    <p:extLst>
      <p:ext uri="{BB962C8B-B14F-4D97-AF65-F5344CB8AC3E}">
        <p14:creationId xmlns:p14="http://schemas.microsoft.com/office/powerpoint/2010/main" val="1260056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B40F12D-8035-4195-930D-B791F4682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129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DA64035-B49A-4536-A334-06A23F564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6000" y="2016000"/>
            <a:ext cx="9864000" cy="414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1" name="Rechthoekige driehoek 10">
            <a:extLst>
              <a:ext uri="{FF2B5EF4-FFF2-40B4-BE49-F238E27FC236}">
                <a16:creationId xmlns:a16="http://schemas.microsoft.com/office/drawing/2014/main" id="{330D8806-E372-45EA-882A-A3971C1ABBA5}"/>
              </a:ext>
            </a:extLst>
          </p:cNvPr>
          <p:cNvSpPr/>
          <p:nvPr userDrawn="1"/>
        </p:nvSpPr>
        <p:spPr>
          <a:xfrm flipH="1">
            <a:off x="777714" y="999026"/>
            <a:ext cx="198000" cy="198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ige driehoek 12">
            <a:extLst>
              <a:ext uri="{FF2B5EF4-FFF2-40B4-BE49-F238E27FC236}">
                <a16:creationId xmlns:a16="http://schemas.microsoft.com/office/drawing/2014/main" id="{5EC37B98-C211-4E5B-9560-4231BD5B7FC9}"/>
              </a:ext>
            </a:extLst>
          </p:cNvPr>
          <p:cNvSpPr/>
          <p:nvPr userDrawn="1"/>
        </p:nvSpPr>
        <p:spPr>
          <a:xfrm rot="5400000">
            <a:off x="11400000" y="6066000"/>
            <a:ext cx="792000" cy="79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71EEF6-DBD1-426F-A2DA-726A66514C22}" type="slidenum">
              <a:rPr lang="nl-NL" smtClean="0"/>
              <a:t>‹#›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4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52" r:id="rId5"/>
    <p:sldLayoutId id="2147483662" r:id="rId6"/>
    <p:sldLayoutId id="2147483659" r:id="rId7"/>
    <p:sldLayoutId id="2147483660" r:id="rId8"/>
    <p:sldLayoutId id="2147483651" r:id="rId9"/>
    <p:sldLayoutId id="2147483654" r:id="rId10"/>
    <p:sldLayoutId id="214748365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20000"/>
        </a:lnSpc>
        <a:spcBef>
          <a:spcPts val="0"/>
        </a:spcBef>
        <a:buClrTx/>
        <a:buFont typeface="Arial" panose="020B0604020202020204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20000"/>
        </a:lnSpc>
        <a:spcBef>
          <a:spcPts val="0"/>
        </a:spcBef>
        <a:buClrTx/>
        <a:buSzPct val="25000"/>
        <a:buFont typeface="Arial" panose="020B0604030504040204" pitchFamily="34" charset="0"/>
        <a:buChar char="'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SzPct val="25000"/>
        <a:buFont typeface="Arial" panose="020B0604030504040204" pitchFamily="34" charset="0"/>
        <a:buChar char="'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Data Types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sz="11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2D1E6D-F9BE-45DD-9E19-3AC27D5FAD91}"/>
              </a:ext>
            </a:extLst>
          </p:cNvPr>
          <p:cNvGrpSpPr/>
          <p:nvPr/>
        </p:nvGrpSpPr>
        <p:grpSpPr>
          <a:xfrm>
            <a:off x="6593983" y="2518600"/>
            <a:ext cx="4042747" cy="2083252"/>
            <a:chOff x="4283968" y="2969267"/>
            <a:chExt cx="4042747" cy="20832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BD934DF-9DF7-4602-9B9F-0E1A818CB968}"/>
                </a:ext>
              </a:extLst>
            </p:cNvPr>
            <p:cNvSpPr txBox="1"/>
            <p:nvPr/>
          </p:nvSpPr>
          <p:spPr>
            <a:xfrm>
              <a:off x="5147760" y="3493527"/>
              <a:ext cx="16573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bigint</a:t>
              </a:r>
              <a:endParaRPr lang="nl-NL" sz="4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4B134C-AEDE-48F6-A515-1DABEF01725D}"/>
                </a:ext>
              </a:extLst>
            </p:cNvPr>
            <p:cNvSpPr txBox="1"/>
            <p:nvPr/>
          </p:nvSpPr>
          <p:spPr>
            <a:xfrm>
              <a:off x="7236295" y="3137956"/>
              <a:ext cx="8256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char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2E03D1D-8FD0-427F-964E-172644E3BD07}"/>
                </a:ext>
              </a:extLst>
            </p:cNvPr>
            <p:cNvSpPr txBox="1"/>
            <p:nvPr/>
          </p:nvSpPr>
          <p:spPr>
            <a:xfrm>
              <a:off x="5789956" y="3220373"/>
              <a:ext cx="8709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0449821-5C67-4F4E-A18C-1842DD32A393}"/>
                </a:ext>
              </a:extLst>
            </p:cNvPr>
            <p:cNvSpPr txBox="1"/>
            <p:nvPr/>
          </p:nvSpPr>
          <p:spPr>
            <a:xfrm>
              <a:off x="4746198" y="3097263"/>
              <a:ext cx="87097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real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4C11A0-B3C9-46D0-BE6D-CBC9CBFA0AD8}"/>
                </a:ext>
              </a:extLst>
            </p:cNvPr>
            <p:cNvSpPr txBox="1"/>
            <p:nvPr/>
          </p:nvSpPr>
          <p:spPr>
            <a:xfrm rot="16200000">
              <a:off x="3537090" y="3716145"/>
              <a:ext cx="20169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datetime2</a:t>
              </a:r>
              <a:endParaRPr lang="nl-NL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B54EBB-1272-494A-B918-72AF13B5130E}"/>
                </a:ext>
              </a:extLst>
            </p:cNvPr>
            <p:cNvSpPr txBox="1"/>
            <p:nvPr/>
          </p:nvSpPr>
          <p:spPr>
            <a:xfrm rot="5400000">
              <a:off x="7144447" y="4059214"/>
              <a:ext cx="140183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money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740F612-F180-49B3-A942-0A86A1DD25B8}"/>
                </a:ext>
              </a:extLst>
            </p:cNvPr>
            <p:cNvSpPr txBox="1"/>
            <p:nvPr/>
          </p:nvSpPr>
          <p:spPr>
            <a:xfrm>
              <a:off x="4712272" y="4093690"/>
              <a:ext cx="1183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time</a:t>
              </a:r>
              <a:endParaRPr lang="nl-NL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0B2E70E-BCDE-44D0-B2C5-E08B6C3EF3B7}"/>
                </a:ext>
              </a:extLst>
            </p:cNvPr>
            <p:cNvSpPr txBox="1"/>
            <p:nvPr/>
          </p:nvSpPr>
          <p:spPr>
            <a:xfrm>
              <a:off x="5857845" y="4032136"/>
              <a:ext cx="24688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geometry</a:t>
              </a:r>
              <a:endParaRPr lang="nl-NL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15EDE6-0B99-4F9E-8428-647B4F19959F}"/>
                </a:ext>
              </a:extLst>
            </p:cNvPr>
            <p:cNvSpPr txBox="1"/>
            <p:nvPr/>
          </p:nvSpPr>
          <p:spPr>
            <a:xfrm>
              <a:off x="6448054" y="3093417"/>
              <a:ext cx="7332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int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2B21EAF-30B0-4078-858F-D4FBBAB4C778}"/>
                </a:ext>
              </a:extLst>
            </p:cNvPr>
            <p:cNvSpPr txBox="1"/>
            <p:nvPr/>
          </p:nvSpPr>
          <p:spPr>
            <a:xfrm>
              <a:off x="6589988" y="4616911"/>
              <a:ext cx="15811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tinyint</a:t>
              </a:r>
              <a:endParaRPr lang="nl-NL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70AE811-87E1-469E-9722-5F1E9B7F0E94}"/>
                </a:ext>
              </a:extLst>
            </p:cNvPr>
            <p:cNvSpPr txBox="1"/>
            <p:nvPr/>
          </p:nvSpPr>
          <p:spPr>
            <a:xfrm>
              <a:off x="4843403" y="4406186"/>
              <a:ext cx="20169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decimal</a:t>
              </a:r>
              <a:endParaRPr lang="nl-NL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BB9B4D7-48A1-4AC6-A1E1-1902C895ABA9}"/>
                </a:ext>
              </a:extLst>
            </p:cNvPr>
            <p:cNvSpPr txBox="1"/>
            <p:nvPr/>
          </p:nvSpPr>
          <p:spPr>
            <a:xfrm>
              <a:off x="6738430" y="3531878"/>
              <a:ext cx="121035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+mn-lt"/>
                </a:rPr>
                <a:t>xml</a:t>
              </a:r>
              <a:endParaRPr lang="nl-NL" sz="40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556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96000" y="720000"/>
            <a:ext cx="9864000" cy="707820"/>
          </a:xfrm>
        </p:spPr>
        <p:txBody>
          <a:bodyPr/>
          <a:lstStyle/>
          <a:p>
            <a:r>
              <a:rPr lang="nl-NL" dirty="0"/>
              <a:t>Waar gebruiken we data types?</a:t>
            </a:r>
          </a:p>
        </p:txBody>
      </p:sp>
      <p:sp>
        <p:nvSpPr>
          <p:cNvPr id="8" name="Tijdelijke aanduiding voor inhoud 2">
            <a:extLst>
              <a:ext uri="{FF2B5EF4-FFF2-40B4-BE49-F238E27FC236}">
                <a16:creationId xmlns:a16="http://schemas.microsoft.com/office/drawing/2014/main" id="{8FC904D1-9B94-4B67-9FA3-C8C4926AF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0594" y="2016000"/>
            <a:ext cx="4034670" cy="1847340"/>
          </a:xfr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>
            <a:normAutofit/>
          </a:bodyPr>
          <a:lstStyle/>
          <a:p>
            <a:pPr marL="0" indent="0"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800" dirty="0">
                <a:latin typeface="Consolas" panose="020B0609020204030204" pitchFamily="49" charset="0"/>
              </a:rPr>
              <a:t>    </a:t>
            </a:r>
            <a:r>
              <a:rPr lang="nl-NL" sz="1800" dirty="0" err="1">
                <a:latin typeface="Consolas" panose="020B0609020204030204" pitchFamily="49" charset="0"/>
              </a:rPr>
              <a:t>productid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,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CAST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 err="1">
                <a:latin typeface="Consolas" panose="020B0609020204030204" pitchFamily="49" charset="0"/>
              </a:rPr>
              <a:t>gewicht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  <a:r>
              <a:rPr lang="de-DE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de-DE" sz="10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de-DE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Productie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Producten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gewicht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NULL;</a:t>
            </a:r>
            <a:endParaRPr lang="en-US" sz="1800" dirty="0"/>
          </a:p>
        </p:txBody>
      </p:sp>
      <p:sp>
        <p:nvSpPr>
          <p:cNvPr id="10" name="Title 4">
            <a:extLst>
              <a:ext uri="{FF2B5EF4-FFF2-40B4-BE49-F238E27FC236}">
                <a16:creationId xmlns:a16="http://schemas.microsoft.com/office/drawing/2014/main" id="{7F9E6231-8434-4E1E-88BE-0A4EB1C5F1D9}"/>
              </a:ext>
            </a:extLst>
          </p:cNvPr>
          <p:cNvSpPr txBox="1">
            <a:spLocks/>
          </p:cNvSpPr>
          <p:nvPr/>
        </p:nvSpPr>
        <p:spPr>
          <a:xfrm>
            <a:off x="792801" y="1610101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1. Query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E65B67FA-0282-4CA4-9AC5-1DA67A3B82E5}"/>
              </a:ext>
            </a:extLst>
          </p:cNvPr>
          <p:cNvSpPr txBox="1">
            <a:spLocks/>
          </p:cNvSpPr>
          <p:nvPr/>
        </p:nvSpPr>
        <p:spPr>
          <a:xfrm>
            <a:off x="5866692" y="2025569"/>
            <a:ext cx="5293308" cy="20645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72000" tIns="72000" rIns="72000" bIns="72000" rtlCol="0">
            <a:normAutofit lnSpcReduction="10000"/>
          </a:bodyPr>
          <a:lstStyle>
            <a:lvl1pPr marL="252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SzPct val="25000"/>
              <a:buFont typeface="Arial" panose="020B0604030504040204" pitchFamily="34" charset="0"/>
              <a:buChar char="'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25000"/>
              <a:buFont typeface="Arial" panose="020B0604030504040204" pitchFamily="34" charset="0"/>
              <a:buChar char="'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Personen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Spelers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latin typeface="Consolas" panose="020B0609020204030204" pitchFamily="49" charset="0"/>
              </a:rPr>
              <a:t>spelerID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latin typeface="Consolas" panose="020B0609020204030204" pitchFamily="49" charset="0"/>
              </a:rPr>
              <a:t>achternaam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nvarchar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NL" sz="1800" dirty="0">
                <a:highlight>
                  <a:srgbClr val="FFFF00"/>
                </a:highlight>
                <a:latin typeface="Consolas" panose="020B0609020204030204" pitchFamily="49" charset="0"/>
              </a:rPr>
              <a:t>30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>
                <a:latin typeface="Consolas" panose="020B0609020204030204" pitchFamily="49" charset="0"/>
              </a:rPr>
              <a:t>geboortedatum </a:t>
            </a:r>
            <a:r>
              <a:rPr lang="nl-NL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NOT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NULL,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    </a:t>
            </a:r>
            <a:r>
              <a:rPr lang="nl-NL" sz="1800" dirty="0" err="1">
                <a:latin typeface="Consolas" panose="020B0609020204030204" pitchFamily="49" charset="0"/>
              </a:rPr>
              <a:t>landID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smallint</a:t>
            </a:r>
            <a:endParaRPr lang="nl-NL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5A8225B7-4B8B-4C25-BFBE-3A46FA1AF8FF}"/>
              </a:ext>
            </a:extLst>
          </p:cNvPr>
          <p:cNvSpPr txBox="1">
            <a:spLocks/>
          </p:cNvSpPr>
          <p:nvPr/>
        </p:nvSpPr>
        <p:spPr>
          <a:xfrm>
            <a:off x="5866692" y="1619670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2. Tabel kolommen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355D49A3-B88E-4AC4-9BCE-6F0B4897F4FE}"/>
              </a:ext>
            </a:extLst>
          </p:cNvPr>
          <p:cNvSpPr txBox="1">
            <a:spLocks/>
          </p:cNvSpPr>
          <p:nvPr/>
        </p:nvSpPr>
        <p:spPr>
          <a:xfrm>
            <a:off x="792522" y="4870709"/>
            <a:ext cx="4082742" cy="1657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72000" tIns="72000" rIns="72000" bIns="72000" rtlCol="0">
            <a:normAutofit lnSpcReduction="10000"/>
          </a:bodyPr>
          <a:lstStyle>
            <a:lvl1pPr marL="252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4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6000" indent="-25200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Font typeface="Arial" panose="020B0604020202020204" pitchFamily="34" charset="0"/>
              <a:buChar char="›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Tx/>
              <a:buSzPct val="25000"/>
              <a:buFont typeface="Arial" panose="020B0604030504040204" pitchFamily="34" charset="0"/>
              <a:buChar char="'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Clr>
                <a:schemeClr val="tx1"/>
              </a:buClr>
              <a:buSzPct val="25000"/>
              <a:buFont typeface="Arial" panose="020B0604030504040204" pitchFamily="34" charset="0"/>
              <a:buChar char="'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nl-NL" sz="1800" dirty="0">
                <a:latin typeface="Consolas" panose="020B0609020204030204" pitchFamily="49" charset="0"/>
              </a:rPr>
              <a:t> @</a:t>
            </a:r>
            <a:r>
              <a:rPr lang="nl-NL" sz="1800" dirty="0" err="1">
                <a:latin typeface="Consolas" panose="020B0609020204030204" pitchFamily="49" charset="0"/>
              </a:rPr>
              <a:t>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12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Personen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Spelers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spelerid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@</a:t>
            </a:r>
            <a:r>
              <a:rPr lang="nl-NL" sz="1800" dirty="0" err="1">
                <a:latin typeface="Consolas" panose="020B0609020204030204" pitchFamily="49" charset="0"/>
              </a:rPr>
              <a:t>id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  <p:sp>
        <p:nvSpPr>
          <p:cNvPr id="15" name="Title 4">
            <a:extLst>
              <a:ext uri="{FF2B5EF4-FFF2-40B4-BE49-F238E27FC236}">
                <a16:creationId xmlns:a16="http://schemas.microsoft.com/office/drawing/2014/main" id="{4E52358B-8CFD-4391-8F03-AA764CC9B0B4}"/>
              </a:ext>
            </a:extLst>
          </p:cNvPr>
          <p:cNvSpPr txBox="1">
            <a:spLocks/>
          </p:cNvSpPr>
          <p:nvPr/>
        </p:nvSpPr>
        <p:spPr>
          <a:xfrm>
            <a:off x="792522" y="4451520"/>
            <a:ext cx="3801780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3. Variabele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2A025182-10C0-4FA4-B4AC-16B3005C9518}"/>
              </a:ext>
            </a:extLst>
          </p:cNvPr>
          <p:cNvSpPr txBox="1">
            <a:spLocks/>
          </p:cNvSpPr>
          <p:nvPr/>
        </p:nvSpPr>
        <p:spPr bwMode="auto">
          <a:xfrm>
            <a:off x="5866692" y="4883627"/>
            <a:ext cx="5293308" cy="16860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SzPct val="70000"/>
              <a:buFontTx/>
              <a:buBlip>
                <a:blip r:embed="rId3"/>
              </a:buBlip>
              <a:defRPr sz="3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PROCEDURE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HR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PersonenInPlaats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Tx/>
              <a:buNone/>
            </a:pPr>
            <a:r>
              <a:rPr lang="nl-NL" sz="1800" dirty="0">
                <a:latin typeface="Consolas" panose="020B0609020204030204" pitchFamily="49" charset="0"/>
              </a:rPr>
              <a:t>    @plaats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nvarchar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nl-NL" sz="1800" dirty="0">
                <a:highlight>
                  <a:srgbClr val="FFFF00"/>
                </a:highlight>
                <a:latin typeface="Consolas" panose="020B0609020204030204" pitchFamily="49" charset="0"/>
              </a:rPr>
              <a:t>30</a:t>
            </a:r>
            <a:r>
              <a:rPr lang="nl-NL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endParaRPr lang="nl-NL" sz="18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nl-NL" sz="1800" dirty="0">
                <a:latin typeface="Consolas" panose="020B0609020204030204" pitchFamily="49" charset="0"/>
              </a:rPr>
              <a:t> </a:t>
            </a:r>
            <a:r>
              <a:rPr lang="nl-NL" sz="1800" dirty="0" err="1">
                <a:latin typeface="Consolas" panose="020B0609020204030204" pitchFamily="49" charset="0"/>
              </a:rPr>
              <a:t>HR</a:t>
            </a:r>
            <a:r>
              <a:rPr lang="nl-NL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nl-NL" sz="1800" dirty="0" err="1">
                <a:latin typeface="Consolas" panose="020B0609020204030204" pitchFamily="49" charset="0"/>
              </a:rPr>
              <a:t>Medewerkers</a:t>
            </a:r>
            <a:endParaRPr lang="nl-NL" sz="1800" dirty="0">
              <a:latin typeface="Consolas" panose="020B0609020204030204" pitchFamily="49" charset="0"/>
            </a:endParaRPr>
          </a:p>
          <a:p>
            <a:pPr marL="0" indent="0">
              <a:buFontTx/>
              <a:buNone/>
            </a:pPr>
            <a:r>
              <a:rPr lang="nl-NL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nl-NL" sz="1800" dirty="0">
                <a:latin typeface="Consolas" panose="020B0609020204030204" pitchFamily="49" charset="0"/>
              </a:rPr>
              <a:t> plaats 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nl-NL" sz="1800" dirty="0">
                <a:latin typeface="Consolas" panose="020B0609020204030204" pitchFamily="49" charset="0"/>
              </a:rPr>
              <a:t> @plaats</a:t>
            </a:r>
            <a:r>
              <a:rPr lang="nl-NL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FFA11DA0-7174-4BBB-BDC3-4C8FBAF3D8B1}"/>
              </a:ext>
            </a:extLst>
          </p:cNvPr>
          <p:cNvSpPr txBox="1">
            <a:spLocks/>
          </p:cNvSpPr>
          <p:nvPr/>
        </p:nvSpPr>
        <p:spPr>
          <a:xfrm>
            <a:off x="5866692" y="4451520"/>
            <a:ext cx="5448202" cy="3963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5000"/>
              </a:lnSpc>
              <a:spcBef>
                <a:spcPct val="0"/>
              </a:spcBef>
              <a:buNone/>
              <a:defRPr sz="4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1" dirty="0"/>
              <a:t>4. </a:t>
            </a:r>
            <a:r>
              <a:rPr lang="nl-NL" sz="2400" b="1" dirty="0" err="1"/>
              <a:t>Stored</a:t>
            </a:r>
            <a:r>
              <a:rPr lang="nl-NL" sz="2400" b="1" dirty="0"/>
              <a:t> Procedures, </a:t>
            </a:r>
            <a:r>
              <a:rPr lang="nl-NL" sz="2400" b="1" dirty="0" err="1"/>
              <a:t>Functions</a:t>
            </a:r>
            <a:r>
              <a:rPr lang="nl-NL" sz="2400" b="1" dirty="0"/>
              <a:t> etc.</a:t>
            </a:r>
          </a:p>
        </p:txBody>
      </p:sp>
    </p:spTree>
    <p:extLst>
      <p:ext uri="{BB962C8B-B14F-4D97-AF65-F5344CB8AC3E}">
        <p14:creationId xmlns:p14="http://schemas.microsoft.com/office/powerpoint/2010/main" val="4207944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Exact Numeriek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Benaderd Numeriek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Binary</a:t>
            </a:r>
            <a:r>
              <a:rPr lang="nl-NL" dirty="0"/>
              <a:t> String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1/3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97188"/>
              </p:ext>
            </p:extLst>
          </p:nvPr>
        </p:nvGraphicFramePr>
        <p:xfrm>
          <a:off x="1565846" y="2507570"/>
          <a:ext cx="4245293" cy="3950052"/>
        </p:xfrm>
        <a:graphic>
          <a:graphicData uri="http://schemas.openxmlformats.org/drawingml/2006/table">
            <a:tbl>
              <a:tblPr/>
              <a:tblGrid>
                <a:gridCol w="130308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32409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bigint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-2^63 tot 2^63-1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-2^31 tot 2^31-1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smallint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-2^15 tot 2^15-1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integer 0 t/m 255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bit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boolean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0, 1, NULL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4275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decimal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numeriek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precisie 1-38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18)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schaal 0-p (</a:t>
                      </a:r>
                      <a:r>
                        <a:rPr lang="nl-NL" sz="16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stndrd</a:t>
                      </a: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0)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969457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numeric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p,s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5-17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zelfde als hierboven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13372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money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0402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smallmoney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financieel 4 decimalen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223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224937"/>
              </p:ext>
            </p:extLst>
          </p:nvPr>
        </p:nvGraphicFramePr>
        <p:xfrm>
          <a:off x="6677846" y="2507570"/>
          <a:ext cx="4212307" cy="1303944"/>
        </p:xfrm>
        <a:graphic>
          <a:graphicData uri="http://schemas.openxmlformats.org/drawingml/2006/table">
            <a:tbl>
              <a:tblPr/>
              <a:tblGrid>
                <a:gridCol w="9993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48910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=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1-24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bits = 4 bytes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mant = 25-53 bits = 8 bytes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synoniem voor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float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(24)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01161"/>
              </p:ext>
            </p:extLst>
          </p:nvPr>
        </p:nvGraphicFramePr>
        <p:xfrm>
          <a:off x="6677845" y="4734073"/>
          <a:ext cx="4212307" cy="1383763"/>
        </p:xfrm>
        <a:graphic>
          <a:graphicData uri="http://schemas.openxmlformats.org/drawingml/2006/table">
            <a:tbl>
              <a:tblPr/>
              <a:tblGrid>
                <a:gridCol w="1494605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441352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binary</a:t>
                      </a:r>
                      <a:r>
                        <a:rPr lang="nl-NL" sz="1600" b="1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varbinary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1-2.1 biljoen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82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726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Tekst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Datum &amp; Tijd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2/3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43346"/>
              </p:ext>
            </p:extLst>
          </p:nvPr>
        </p:nvGraphicFramePr>
        <p:xfrm>
          <a:off x="1565846" y="2507570"/>
          <a:ext cx="4212307" cy="3449674"/>
        </p:xfrm>
        <a:graphic>
          <a:graphicData uri="http://schemas.openxmlformats.org/drawingml/2006/table">
            <a:tbl>
              <a:tblPr/>
              <a:tblGrid>
                <a:gridCol w="146310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1968153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256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347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(n)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 bytes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padded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870674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1-4000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2*n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bytes + 2</a:t>
                      </a:r>
                      <a:b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&gt; 65.000 tekens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nvarchar</a:t>
                      </a: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(max)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&lt;= 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vervangt oude </a:t>
                      </a:r>
                      <a:r>
                        <a:rPr lang="nl-NL" sz="16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ntext</a:t>
                      </a:r>
                      <a:endParaRPr lang="nl-NL" sz="1600" kern="1200" baseline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8867979"/>
              </p:ext>
            </p:extLst>
          </p:nvPr>
        </p:nvGraphicFramePr>
        <p:xfrm>
          <a:off x="6677846" y="2507570"/>
          <a:ext cx="5018854" cy="1303944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1753 - 31 dec 9999 /</a:t>
                      </a:r>
                      <a:b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.000, .003 of .007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smalldatetime</a:t>
                      </a:r>
                      <a:endParaRPr lang="nl-NL" sz="1600" b="1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604987"/>
              </p:ext>
            </p:extLst>
          </p:nvPr>
        </p:nvGraphicFramePr>
        <p:xfrm>
          <a:off x="6677846" y="3902732"/>
          <a:ext cx="5018854" cy="1986408"/>
        </p:xfrm>
        <a:graphic>
          <a:graphicData uri="http://schemas.openxmlformats.org/drawingml/2006/table">
            <a:tbl>
              <a:tblPr/>
              <a:tblGrid>
                <a:gridCol w="14374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</a:t>
                      </a:r>
                      <a:r>
                        <a:rPr lang="nl-NL" sz="1600" b="1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6-8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jan 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0001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- 31 dec 9999 /</a:t>
                      </a:r>
                      <a:b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1900 - 6 jun 2079 / 1 min.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94209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3-5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tijd / 100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7473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datetimeoffset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8-10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jan 0001 - 31 dec 9999 /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100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nano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sec. + timezone info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884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67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>
          <a:xfrm>
            <a:off x="1296000" y="2016000"/>
            <a:ext cx="9864000" cy="4140000"/>
          </a:xfrm>
        </p:spPr>
        <p:txBody>
          <a:bodyPr/>
          <a:lstStyle/>
          <a:p>
            <a:r>
              <a:rPr lang="nl-NL" dirty="0"/>
              <a:t>Overig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types 3/3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82024"/>
              </p:ext>
            </p:extLst>
          </p:nvPr>
        </p:nvGraphicFramePr>
        <p:xfrm>
          <a:off x="1565846" y="2507570"/>
          <a:ext cx="7463854" cy="3087468"/>
        </p:xfrm>
        <a:graphic>
          <a:graphicData uri="http://schemas.openxmlformats.org/drawingml/2006/table">
            <a:tbl>
              <a:tblPr/>
              <a:tblGrid>
                <a:gridCol w="1647254">
                  <a:extLst>
                    <a:ext uri="{9D8B030D-6E8A-4147-A177-3AD203B41FA5}">
                      <a16:colId xmlns:a16="http://schemas.microsoft.com/office/drawing/2014/main" val="242860033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04063168"/>
                    </a:ext>
                  </a:extLst>
                </a:gridCol>
                <a:gridCol w="4978400">
                  <a:extLst>
                    <a:ext uri="{9D8B030D-6E8A-4147-A177-3AD203B41FA5}">
                      <a16:colId xmlns:a16="http://schemas.microsoft.com/office/drawing/2014/main" val="3952046498"/>
                    </a:ext>
                  </a:extLst>
                </a:gridCol>
              </a:tblGrid>
              <a:tr h="36154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i="0" u="non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</a:t>
                      </a:r>
                      <a:r>
                        <a:rPr lang="nl-NL" sz="1600" b="1" i="0" u="none" baseline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type</a:t>
                      </a:r>
                      <a:endParaRPr lang="nl-NL" sz="1100" i="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lengte</a:t>
                      </a:r>
                      <a:endParaRPr lang="nl-NL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omschrijving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F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08014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uniqueidentifier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64bit GUID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83838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geometry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vlak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164347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geography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506269"/>
                  </a:ext>
                </a:extLst>
              </a:tr>
              <a:tr h="24530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0-2GB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XML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in </a:t>
                      </a:r>
                      <a:r>
                        <a:rPr lang="nl-NL" sz="16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hierarchische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structuur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103968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sql_variant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0-8000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ondersteuning</a:t>
                      </a:r>
                      <a:r>
                        <a:rPr lang="nl-NL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van verschillende data typen in één kolom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869889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hierarchyid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positie in een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hierarchy</a:t>
                      </a: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001320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cursor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cursor operaties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62043"/>
                  </a:ext>
                </a:extLst>
              </a:tr>
              <a:tr h="1861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table</a:t>
                      </a:r>
                      <a:endParaRPr lang="nl-NL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nl-NL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enkel bij </a:t>
                      </a:r>
                      <a:r>
                        <a:rPr lang="nl-NL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queries</a:t>
                      </a:r>
                      <a:r>
                        <a:rPr lang="nl-NL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(niet om op te slaan)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803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170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296001" y="1837865"/>
            <a:ext cx="7238400" cy="6535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Impliciete Data Conversie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64" y="2893961"/>
            <a:ext cx="1197969" cy="3470827"/>
          </a:xfrm>
          <a:prstGeom prst="rect">
            <a:avLst/>
          </a:prstGeom>
        </p:spPr>
      </p:pic>
      <p:sp>
        <p:nvSpPr>
          <p:cNvPr id="4" name="Up Arrow 3"/>
          <p:cNvSpPr/>
          <p:nvPr/>
        </p:nvSpPr>
        <p:spPr>
          <a:xfrm>
            <a:off x="3607101" y="2893961"/>
            <a:ext cx="1117600" cy="3470827"/>
          </a:xfrm>
          <a:prstGeom prst="upArrow">
            <a:avLst>
              <a:gd name="adj1" fmla="val 50000"/>
              <a:gd name="adj2" fmla="val 9886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496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Expliciete Data Conversie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nl-NL" dirty="0"/>
              <a:t>CAST()</a:t>
            </a:r>
          </a:p>
          <a:p>
            <a:r>
              <a:rPr lang="nl-NL" dirty="0"/>
              <a:t>CONVERT()</a:t>
            </a:r>
          </a:p>
          <a:p>
            <a:pPr lvl="1"/>
            <a:r>
              <a:rPr lang="nl-NL" dirty="0"/>
              <a:t>TRY_CONVERT()</a:t>
            </a:r>
          </a:p>
          <a:p>
            <a:r>
              <a:rPr lang="nl-NL" dirty="0"/>
              <a:t>PARSE()</a:t>
            </a:r>
          </a:p>
          <a:p>
            <a:pPr lvl="1"/>
            <a:r>
              <a:rPr lang="nl-NL" dirty="0"/>
              <a:t>TRY_PARSE()</a:t>
            </a:r>
          </a:p>
        </p:txBody>
      </p:sp>
    </p:spTree>
    <p:extLst>
      <p:ext uri="{BB962C8B-B14F-4D97-AF65-F5344CB8AC3E}">
        <p14:creationId xmlns:p14="http://schemas.microsoft.com/office/powerpoint/2010/main" val="2931553398"/>
      </p:ext>
    </p:extLst>
  </p:cSld>
  <p:clrMapOvr>
    <a:masterClrMapping/>
  </p:clrMapOvr>
</p:sld>
</file>

<file path=ppt/theme/theme1.xml><?xml version="1.0" encoding="utf-8"?>
<a:theme xmlns:a="http://schemas.openxmlformats.org/drawingml/2006/main" name="InfoSupport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CAE744"/>
      </a:accent3>
      <a:accent4>
        <a:srgbClr val="A0BBE3"/>
      </a:accent4>
      <a:accent5>
        <a:srgbClr val="8587A3"/>
      </a:accent5>
      <a:accent6>
        <a:srgbClr val="C7D64A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foSupport presentatie.potx" id="{7DAF46F7-D630-490F-B8F3-36A8111C9316}" vid="{AD729A4C-E615-4DD0-B9D1-A3FA0FFAE0BB}"/>
    </a:ext>
  </a:extLst>
</a:theme>
</file>

<file path=ppt/theme/theme2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InfoSupport">
      <a:dk1>
        <a:srgbClr val="133561"/>
      </a:dk1>
      <a:lt1>
        <a:sysClr val="window" lastClr="FFFFFF"/>
      </a:lt1>
      <a:dk2>
        <a:srgbClr val="000000"/>
      </a:dk2>
      <a:lt2>
        <a:srgbClr val="FFFFFF"/>
      </a:lt2>
      <a:accent1>
        <a:srgbClr val="133561"/>
      </a:accent1>
      <a:accent2>
        <a:srgbClr val="007FC3"/>
      </a:accent2>
      <a:accent3>
        <a:srgbClr val="7F7F7F"/>
      </a:accent3>
      <a:accent4>
        <a:srgbClr val="A5A5A5"/>
      </a:accent4>
      <a:accent5>
        <a:srgbClr val="CCCCCC"/>
      </a:accent5>
      <a:accent6>
        <a:srgbClr val="133561"/>
      </a:accent6>
      <a:hlink>
        <a:srgbClr val="007FC3"/>
      </a:hlink>
      <a:folHlink>
        <a:srgbClr val="007FC3"/>
      </a:folHlink>
    </a:clrScheme>
    <a:fontScheme name="InfoSuppo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58805C9A31ED4698AA5994F7540466" ma:contentTypeVersion="1" ma:contentTypeDescription="Een nieuw document maken." ma:contentTypeScope="" ma:versionID="5cab34e6f8d54d32c51f192539e9981c">
  <xsd:schema xmlns:xsd="http://www.w3.org/2001/XMLSchema" xmlns:xs="http://www.w3.org/2001/XMLSchema" xmlns:p="http://schemas.microsoft.com/office/2006/metadata/properties" xmlns:ns2="a73fd6a0-a740-4ca0-a47f-6beba88ccc77" targetNamespace="http://schemas.microsoft.com/office/2006/metadata/properties" ma:root="true" ma:fieldsID="10b3ae9c115bae24efdfd9076c93080b" ns2:_="">
    <xsd:import namespace="a73fd6a0-a740-4ca0-a47f-6beba88ccc7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fd6a0-a740-4ca0-a47f-6beba88ccc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2D367F-CDF8-41AC-AFB7-55F4C9891DC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a73fd6a0-a740-4ca0-a47f-6beba88ccc7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AC5726C-A652-4DAC-B8E2-EBAE536484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F14C6E-D876-4429-BF27-1136D6CA11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3fd6a0-a740-4ca0-a47f-6beba88ccc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554</Words>
  <Application>Microsoft Office PowerPoint</Application>
  <PresentationFormat>Widescreen</PresentationFormat>
  <Paragraphs>186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InfoSupport</vt:lpstr>
      <vt:lpstr>Data Types</vt:lpstr>
      <vt:lpstr>Waar gebruiken we data types?</vt:lpstr>
      <vt:lpstr>Data types 1/3</vt:lpstr>
      <vt:lpstr>Data types 2/3</vt:lpstr>
      <vt:lpstr>Data types 3/3</vt:lpstr>
      <vt:lpstr>Impliciete Data Conversie</vt:lpstr>
      <vt:lpstr>Expliciete Data Conversie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Kees van Loenen</dc:creator>
  <dc:description>Template by Orange Pepper_x000d_
Design by Beeldenfabriek_x000d_
2018</dc:description>
  <cp:lastModifiedBy>Kees van Loenen</cp:lastModifiedBy>
  <cp:revision>296</cp:revision>
  <cp:lastPrinted>2018-10-24T06:32:12Z</cp:lastPrinted>
  <dcterms:created xsi:type="dcterms:W3CDTF">2017-12-07T10:48:50Z</dcterms:created>
  <dcterms:modified xsi:type="dcterms:W3CDTF">2026-09-25T11:55:10Z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0x0101000858805C9A31ED4698AA5994F7540466</vt:lpwstr>
  </property>
</Properties>
</file>